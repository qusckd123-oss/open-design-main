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65836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81818"/>
                </a:solidFill>
                <a:latin typeface="Malgun Gothic"/>
              </a:rPr>
              <a:t>TECHNICAL
DESIGNER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395728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70706C"/>
                </a:solidFill>
                <a:latin typeface="Malgun Gothic"/>
              </a:rPr>
              <a:t>PORTFOLIO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182112"/>
            <a:ext cx="10789920" cy="9144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4290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1818"/>
                </a:solidFill>
                <a:latin typeface="Malgun Gothic"/>
              </a:rPr>
              <a:t>이름 /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3429000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70706C"/>
                </a:solidFill>
                <a:latin typeface="Malgun Gothic"/>
              </a:rPr>
              <a:t>FIT · SPEC · QC · TECHNICAL DIRECTION · PATTERN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4160520"/>
            <a:ext cx="3429000" cy="1691640"/>
          </a:xfrm>
          <a:prstGeom prst="rect">
            <a:avLst/>
          </a:prstGeom>
          <a:solidFill>
            <a:srgbClr val="F1F1ED"/>
          </a:solidFill>
          <a:ln w="10160">
            <a:solidFill>
              <a:srgbClr val="E2E2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841748"/>
            <a:ext cx="3429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0706C"/>
                </a:solidFill>
                <a:latin typeface="Malgun Gothic"/>
              </a:rPr>
              <a:t>대표 이미지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134355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70706C"/>
                </a:solidFill>
                <a:latin typeface="Malgun Gothic"/>
              </a:rPr>
              <a:t>의류 / 패턴 / 피팅 디테일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8348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6C"/>
                </a:solidFill>
                <a:latin typeface="Malgun Gothic"/>
              </a:rPr>
              <a:t>TD 포트폴리오
16:9 / 이미지 교체형 템플릿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01 /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81818"/>
                </a:solidFill>
                <a:latin typeface="Malgun Gothic"/>
              </a:rPr>
              <a:t>경력 및 주요 업무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70706C"/>
                </a:solidFill>
                <a:latin typeface="Malgun Gothi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1000232" cy="9144"/>
          </a:xfrm>
          <a:prstGeom prst="rect">
            <a:avLst/>
          </a:prstGeom>
          <a:solidFill>
            <a:srgbClr val="E2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38528"/>
            <a:ext cx="374903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81818"/>
                </a:solidFill>
                <a:latin typeface="Malgun Gothic"/>
              </a:rPr>
              <a:t>핏·스펙, 품질, 패턴 및
양산 안정화를 중심으로 업무하는
Technical Designer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64592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96596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경력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6596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1818"/>
                </a:solidFill>
                <a:latin typeface="Malgun Gothic"/>
              </a:rPr>
              <a:t>00+ YEARS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2395728"/>
            <a:ext cx="6675119" cy="9144"/>
          </a:xfrm>
          <a:prstGeom prst="rect">
            <a:avLst/>
          </a:prstGeom>
          <a:solidFill>
            <a:srgbClr val="E2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679191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담당 복종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679191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1818"/>
                </a:solidFill>
                <a:latin typeface="Malgun Gothic"/>
              </a:rPr>
              <a:t>우븐 / 니트 / 다이마루 / 데님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3108959"/>
            <a:ext cx="6675119" cy="9144"/>
          </a:xfrm>
          <a:prstGeom prst="rect">
            <a:avLst/>
          </a:prstGeom>
          <a:solidFill>
            <a:srgbClr val="E2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3392424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시즌 담당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392424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1818"/>
                </a:solidFill>
                <a:latin typeface="Malgun Gothic"/>
              </a:rPr>
              <a:t>000 STYLES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3822191"/>
            <a:ext cx="6675119" cy="9144"/>
          </a:xfrm>
          <a:prstGeom prst="rect">
            <a:avLst/>
          </a:prstGeom>
          <a:solidFill>
            <a:srgbClr val="E2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4105656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주요 업무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105656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1818"/>
                </a:solidFill>
                <a:latin typeface="Malgun Gothic"/>
              </a:rPr>
              <a:t>FIT / QC / PATTERN / VENDOR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4535424"/>
            <a:ext cx="6675119" cy="9144"/>
          </a:xfrm>
          <a:prstGeom prst="rect">
            <a:avLst/>
          </a:prstGeom>
          <a:solidFill>
            <a:srgbClr val="E2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5257800"/>
            <a:ext cx="3108960" cy="731520"/>
          </a:xfrm>
          <a:prstGeom prst="rect">
            <a:avLst/>
          </a:prstGeom>
          <a:solidFill>
            <a:srgbClr val="F1F1ED"/>
          </a:solidFill>
          <a:ln w="10160">
            <a:solidFill>
              <a:srgbClr val="E2E2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458968"/>
            <a:ext cx="3108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0706C"/>
                </a:solidFill>
                <a:latin typeface="Malgun Gothic"/>
              </a:rPr>
              <a:t>선택 이미지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0706C"/>
                </a:solidFill>
                <a:latin typeface="Malgun Gothic"/>
              </a:rPr>
              <a:t>TECHNICAL DESIGNER PORTFOLIO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6446520"/>
            <a:ext cx="36393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70706C"/>
                </a:solidFill>
                <a:latin typeface="Malgun Gothic"/>
              </a:rPr>
              <a:t>본인 경력 및 수치로 교체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02 / FIT &amp; SPEC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81818"/>
                </a:solidFill>
                <a:latin typeface="Malgun Gothic"/>
              </a:rPr>
              <a:t>핏·스펙 기준 수립 및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70706C"/>
                </a:solidFill>
                <a:latin typeface="Malgun Gothi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1000232" cy="9144"/>
          </a:xfrm>
          <a:prstGeom prst="rect">
            <a:avLst/>
          </a:prstGeom>
          <a:solidFill>
            <a:srgbClr val="E2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64208"/>
            <a:ext cx="3063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818"/>
                </a:solidFill>
                <a:latin typeface="Malgun Gothic"/>
              </a:rPr>
              <a:t>실측 데이터와 피팅 결과를 바탕으로
복종·스타일별 핏 기준을 정의하고
주요 부위 스펙을 제안·보정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43200"/>
            <a:ext cx="2971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6C"/>
                </a:solidFill>
                <a:latin typeface="Malgun Gothic"/>
              </a:rPr>
              <a:t>01  기존 스타일 및 실측 데이터 분석
02  타깃 실루엣 및 주요 부위 스펙 설정
03  피팅 결과 기반 스펙 보정
04  시즌·복종별 기준 정리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1664208"/>
            <a:ext cx="7315200" cy="4434840"/>
          </a:xfrm>
          <a:prstGeom prst="rect">
            <a:avLst/>
          </a:prstGeom>
          <a:solidFill>
            <a:srgbClr val="F1F1ED"/>
          </a:solidFill>
          <a:ln w="10160">
            <a:solidFill>
              <a:srgbClr val="E2E2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3717036"/>
            <a:ext cx="7315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0706C"/>
                </a:solidFill>
                <a:latin typeface="Malgun Gothic"/>
              </a:rPr>
              <a:t>핏 / 스펙 파일 이미지 삽입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4009644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70706C"/>
                </a:solidFill>
                <a:latin typeface="Malgun Gothic"/>
              </a:rPr>
              <a:t>스펙표 · 핏 기준표 · 제안 자료 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6199632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CAPTION  /  어떤 기준을 수립·개선했는지 한 줄로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0706C"/>
                </a:solidFill>
                <a:latin typeface="Malgun Gothic"/>
              </a:rPr>
              <a:t>TECHNICAL DESIGNER PORTFOLIO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46520"/>
            <a:ext cx="36393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70706C"/>
                </a:solidFill>
                <a:latin typeface="Malgun Gothic"/>
              </a:rPr>
              <a:t>실제 업무 자료로 이미지 교체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03 / QUALITY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81818"/>
                </a:solidFill>
                <a:latin typeface="Malgun Gothic"/>
              </a:rPr>
              <a:t>QC 및 컨펌율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70706C"/>
                </a:solidFill>
                <a:latin typeface="Malgun Gothi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1000232" cy="9144"/>
          </a:xfrm>
          <a:prstGeom prst="rect">
            <a:avLst/>
          </a:prstGeom>
          <a:solidFill>
            <a:srgbClr val="E2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64208"/>
            <a:ext cx="7315200" cy="4251960"/>
          </a:xfrm>
          <a:prstGeom prst="rect">
            <a:avLst/>
          </a:prstGeom>
          <a:solidFill>
            <a:srgbClr val="F1F1ED"/>
          </a:solidFill>
          <a:ln w="10160">
            <a:solidFill>
              <a:srgbClr val="E2E2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625596"/>
            <a:ext cx="7315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0706C"/>
                </a:solidFill>
                <a:latin typeface="Malgun Gothic"/>
              </a:rPr>
              <a:t>QC 관리 파일 이미지 삽입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18204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70706C"/>
                </a:solidFill>
                <a:latin typeface="Malgun Gothic"/>
              </a:rPr>
              <a:t>컨펌 현황 · 협력사별 진행 상태 · 샘플 단계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664208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QC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1975104"/>
            <a:ext cx="2880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81818"/>
                </a:solidFill>
                <a:latin typeface="Malgun Gothic"/>
              </a:rPr>
              <a:t>샘플 단계별 QC 현황을 관리하고
미컨펌 사유 및 이슈를 추적하여
후속 조치까지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324612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81818"/>
                </a:solidFill>
                <a:latin typeface="Malgun Gothic"/>
              </a:rPr>
              <a:t>SAMPLE QC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721608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81818"/>
                </a:solidFill>
                <a:latin typeface="Malgun Gothic"/>
              </a:rPr>
              <a:t>컨펌 현황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4197096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81818"/>
                </a:solidFill>
                <a:latin typeface="Malgun Gothic"/>
              </a:rPr>
              <a:t>협력사 FOLLOW-UP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4672583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81818"/>
                </a:solidFill>
                <a:latin typeface="Malgun Gothic"/>
              </a:rPr>
              <a:t>이슈 종료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5303520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1818"/>
                </a:solidFill>
                <a:latin typeface="Malgun Gothic"/>
              </a:rPr>
              <a:t>XX%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5468112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0706C"/>
                </a:solidFill>
                <a:latin typeface="Malgun Gothic"/>
              </a:rPr>
              <a:t>컨펌율 / 실제 수치로 교체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0706C"/>
                </a:solidFill>
                <a:latin typeface="Malgun Gothic"/>
              </a:rPr>
              <a:t>TECHNICAL DESIGNER PORTFOLIO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46520"/>
            <a:ext cx="36393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70706C"/>
                </a:solidFill>
                <a:latin typeface="Malgun Gothic"/>
              </a:rPr>
              <a:t>실제 업무 자료로 이미지 교체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04 / TECHNICAL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81818"/>
                </a:solidFill>
                <a:latin typeface="Malgun Gothic"/>
              </a:rPr>
              <a:t>작업지시 및 TD 코멘트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70706C"/>
                </a:solidFill>
                <a:latin typeface="Malgun Gothi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1000232" cy="9144"/>
          </a:xfrm>
          <a:prstGeom prst="rect">
            <a:avLst/>
          </a:prstGeom>
          <a:solidFill>
            <a:srgbClr val="E2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64208"/>
            <a:ext cx="5230368" cy="1965960"/>
          </a:xfrm>
          <a:prstGeom prst="rect">
            <a:avLst/>
          </a:prstGeom>
          <a:solidFill>
            <a:srgbClr val="F1F1ED"/>
          </a:solidFill>
          <a:ln w="10160">
            <a:solidFill>
              <a:srgbClr val="E2E2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82596"/>
            <a:ext cx="5230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0706C"/>
                </a:solidFill>
                <a:latin typeface="Malgun Gothic"/>
              </a:rPr>
              <a:t>STYLE 01 / 작업지시서 캡처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75204"/>
            <a:ext cx="48646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70706C"/>
                </a:solidFill>
                <a:latin typeface="Malgun Gothic"/>
              </a:rPr>
              <a:t>TD 코멘트 + 수정 이미지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703320"/>
            <a:ext cx="5230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복종 / 주요 이슈 / 수정 내용 — 한 줄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768" y="1664208"/>
            <a:ext cx="5230368" cy="1965960"/>
          </a:xfrm>
          <a:prstGeom prst="rect">
            <a:avLst/>
          </a:prstGeom>
          <a:solidFill>
            <a:srgbClr val="F1F1ED"/>
          </a:solidFill>
          <a:ln w="10160">
            <a:solidFill>
              <a:srgbClr val="E2E2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482596"/>
            <a:ext cx="5230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0706C"/>
                </a:solidFill>
                <a:latin typeface="Malgun Gothic"/>
              </a:rPr>
              <a:t>STYLE 02 / 작업지시서 캡처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775204"/>
            <a:ext cx="48646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70706C"/>
                </a:solidFill>
                <a:latin typeface="Malgun Gothic"/>
              </a:rPr>
              <a:t>TD 코멘트 + 수정 이미지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3703320"/>
            <a:ext cx="5230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복종 / 주요 이슈 / 수정 내용 — 한 줄 요약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005072"/>
            <a:ext cx="5230368" cy="1965960"/>
          </a:xfrm>
          <a:prstGeom prst="rect">
            <a:avLst/>
          </a:prstGeom>
          <a:solidFill>
            <a:srgbClr val="F1F1ED"/>
          </a:solidFill>
          <a:ln w="10160">
            <a:solidFill>
              <a:srgbClr val="E2E2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823460"/>
            <a:ext cx="5230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0706C"/>
                </a:solidFill>
                <a:latin typeface="Malgun Gothic"/>
              </a:rPr>
              <a:t>STYLE 03 / 작업지시서 캡처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16068"/>
            <a:ext cx="48646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70706C"/>
                </a:solidFill>
                <a:latin typeface="Malgun Gothic"/>
              </a:rPr>
              <a:t>TD 코멘트 + 수정 이미지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044183"/>
            <a:ext cx="5230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복종 / 주요 이슈 / 수정 내용 — 한 줄 요약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4005072"/>
            <a:ext cx="5230368" cy="1965960"/>
          </a:xfrm>
          <a:prstGeom prst="rect">
            <a:avLst/>
          </a:prstGeom>
          <a:solidFill>
            <a:srgbClr val="F1F1ED"/>
          </a:solidFill>
          <a:ln w="10160">
            <a:solidFill>
              <a:srgbClr val="E2E2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4823460"/>
            <a:ext cx="5230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0706C"/>
                </a:solidFill>
                <a:latin typeface="Malgun Gothic"/>
              </a:rPr>
              <a:t>STYLE 04 / 작업지시서 캡처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5116068"/>
            <a:ext cx="48646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70706C"/>
                </a:solidFill>
                <a:latin typeface="Malgun Gothic"/>
              </a:rPr>
              <a:t>TD 코멘트 + 수정 이미지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6044183"/>
            <a:ext cx="5230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복종 / 주요 이슈 / 수정 내용 — 한 줄 요약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0706C"/>
                </a:solidFill>
                <a:latin typeface="Malgun Gothic"/>
              </a:rPr>
              <a:t>TECHNICAL DESIGNER PORTFOLIO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6446520"/>
            <a:ext cx="36393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70706C"/>
                </a:solidFill>
                <a:latin typeface="Malgun Gothic"/>
              </a:rPr>
              <a:t>실제 업무 자료로 이미지 교체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04 / TECHNICAL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81818"/>
                </a:solidFill>
                <a:latin typeface="Malgun Gothic"/>
              </a:rPr>
              <a:t>작업지시 및 TD 코멘트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70706C"/>
                </a:solidFill>
                <a:latin typeface="Malgun Gothic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1000232" cy="9144"/>
          </a:xfrm>
          <a:prstGeom prst="rect">
            <a:avLst/>
          </a:prstGeom>
          <a:solidFill>
            <a:srgbClr val="E2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64208"/>
            <a:ext cx="5230368" cy="1965960"/>
          </a:xfrm>
          <a:prstGeom prst="rect">
            <a:avLst/>
          </a:prstGeom>
          <a:solidFill>
            <a:srgbClr val="F1F1ED"/>
          </a:solidFill>
          <a:ln w="10160">
            <a:solidFill>
              <a:srgbClr val="E2E2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82596"/>
            <a:ext cx="5230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0706C"/>
                </a:solidFill>
                <a:latin typeface="Malgun Gothic"/>
              </a:rPr>
              <a:t>STYLE 05 / 작업지시서 캡처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75204"/>
            <a:ext cx="48646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70706C"/>
                </a:solidFill>
                <a:latin typeface="Malgun Gothic"/>
              </a:rPr>
              <a:t>TD 코멘트 + 수정 이미지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703320"/>
            <a:ext cx="5230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복종 / 주요 이슈 / 수정 내용 — 한 줄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768" y="1664208"/>
            <a:ext cx="5230368" cy="1965960"/>
          </a:xfrm>
          <a:prstGeom prst="rect">
            <a:avLst/>
          </a:prstGeom>
          <a:solidFill>
            <a:srgbClr val="F1F1ED"/>
          </a:solidFill>
          <a:ln w="10160">
            <a:solidFill>
              <a:srgbClr val="E2E2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482596"/>
            <a:ext cx="5230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0706C"/>
                </a:solidFill>
                <a:latin typeface="Malgun Gothic"/>
              </a:rPr>
              <a:t>STYLE 06 / 작업지시서 캡처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775204"/>
            <a:ext cx="48646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70706C"/>
                </a:solidFill>
                <a:latin typeface="Malgun Gothic"/>
              </a:rPr>
              <a:t>TD 코멘트 + 수정 이미지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3703320"/>
            <a:ext cx="5230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복종 / 주요 이슈 / 수정 내용 — 한 줄 요약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005072"/>
            <a:ext cx="5230368" cy="1965960"/>
          </a:xfrm>
          <a:prstGeom prst="rect">
            <a:avLst/>
          </a:prstGeom>
          <a:solidFill>
            <a:srgbClr val="F1F1ED"/>
          </a:solidFill>
          <a:ln w="10160">
            <a:solidFill>
              <a:srgbClr val="E2E2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823460"/>
            <a:ext cx="5230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0706C"/>
                </a:solidFill>
                <a:latin typeface="Malgun Gothic"/>
              </a:rPr>
              <a:t>STYLE 07 / 작업지시서 캡처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16068"/>
            <a:ext cx="48646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70706C"/>
                </a:solidFill>
                <a:latin typeface="Malgun Gothic"/>
              </a:rPr>
              <a:t>TD 코멘트 + 수정 이미지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044183"/>
            <a:ext cx="5230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복종 / 주요 이슈 / 수정 내용 — 한 줄 요약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4005072"/>
            <a:ext cx="5230368" cy="1965960"/>
          </a:xfrm>
          <a:prstGeom prst="rect">
            <a:avLst/>
          </a:prstGeom>
          <a:solidFill>
            <a:srgbClr val="F1F1ED"/>
          </a:solidFill>
          <a:ln w="10160">
            <a:solidFill>
              <a:srgbClr val="E2E2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4823460"/>
            <a:ext cx="5230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0706C"/>
                </a:solidFill>
                <a:latin typeface="Malgun Gothic"/>
              </a:rPr>
              <a:t>STYLE 08 / 작업지시서 캡처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5116068"/>
            <a:ext cx="48646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70706C"/>
                </a:solidFill>
                <a:latin typeface="Malgun Gothic"/>
              </a:rPr>
              <a:t>TD 코멘트 + 수정 이미지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6044183"/>
            <a:ext cx="5230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복종 / 주요 이슈 / 수정 내용 — 한 줄 요약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0706C"/>
                </a:solidFill>
                <a:latin typeface="Malgun Gothic"/>
              </a:rPr>
              <a:t>TECHNICAL DESIGNER PORTFOLIO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6446520"/>
            <a:ext cx="36393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70706C"/>
                </a:solidFill>
                <a:latin typeface="Malgun Gothic"/>
              </a:rPr>
              <a:t>실제 업무 자료로 이미지 교체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04 / TECHNICAL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81818"/>
                </a:solidFill>
                <a:latin typeface="Malgun Gothic"/>
              </a:rPr>
              <a:t>작업지시 및 TD 코멘트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70706C"/>
                </a:solidFill>
                <a:latin typeface="Malgun Gothic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1000232" cy="9144"/>
          </a:xfrm>
          <a:prstGeom prst="rect">
            <a:avLst/>
          </a:prstGeom>
          <a:solidFill>
            <a:srgbClr val="E2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64208"/>
            <a:ext cx="5230368" cy="4251960"/>
          </a:xfrm>
          <a:prstGeom prst="rect">
            <a:avLst/>
          </a:prstGeom>
          <a:solidFill>
            <a:srgbClr val="F1F1ED"/>
          </a:solidFill>
          <a:ln w="10160">
            <a:solidFill>
              <a:srgbClr val="E2E2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625596"/>
            <a:ext cx="5230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0706C"/>
                </a:solidFill>
                <a:latin typeface="Malgun Gothic"/>
              </a:rPr>
              <a:t>STYLE 09 / 작업지시서 캡처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18204"/>
            <a:ext cx="48646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70706C"/>
                </a:solidFill>
                <a:latin typeface="Malgun Gothic"/>
              </a:rPr>
              <a:t>대표 사례 크게 삽입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4768" y="1664208"/>
            <a:ext cx="5230368" cy="4251960"/>
          </a:xfrm>
          <a:prstGeom prst="rect">
            <a:avLst/>
          </a:prstGeom>
          <a:solidFill>
            <a:srgbClr val="F1F1ED"/>
          </a:solidFill>
          <a:ln w="10160">
            <a:solidFill>
              <a:srgbClr val="E2E2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3625596"/>
            <a:ext cx="52303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0706C"/>
                </a:solidFill>
                <a:latin typeface="Malgun Gothic"/>
              </a:rPr>
              <a:t>STYLE 10 / 작업지시서 캡처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3918204"/>
            <a:ext cx="48646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70706C"/>
                </a:solidFill>
                <a:latin typeface="Malgun Gothic"/>
              </a:rPr>
              <a:t>대표 사례 크게 삽입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062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0706C"/>
                </a:solidFill>
                <a:latin typeface="Malgun Gothic"/>
              </a:rPr>
              <a:t>가장 설명하기 좋은 대표 사례 2개를 크게 배치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0706C"/>
                </a:solidFill>
                <a:latin typeface="Malgun Gothic"/>
              </a:rPr>
              <a:t>TECHNICAL DESIGNER PORTFOLIO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6446520"/>
            <a:ext cx="36393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70706C"/>
                </a:solidFill>
                <a:latin typeface="Malgun Gothic"/>
              </a:rPr>
              <a:t>실제 업무 자료로 이미지 교체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05 /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81818"/>
                </a:solidFill>
                <a:latin typeface="Malgun Gothic"/>
              </a:rPr>
              <a:t>패턴 직접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70706C"/>
                </a:solidFill>
                <a:latin typeface="Malgun Gothic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1000232" cy="9144"/>
          </a:xfrm>
          <a:prstGeom prst="rect">
            <a:avLst/>
          </a:prstGeom>
          <a:solidFill>
            <a:srgbClr val="E2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64208"/>
            <a:ext cx="8321040" cy="4526280"/>
          </a:xfrm>
          <a:prstGeom prst="rect">
            <a:avLst/>
          </a:prstGeom>
          <a:solidFill>
            <a:srgbClr val="F1F1ED"/>
          </a:solidFill>
          <a:ln w="10160">
            <a:solidFill>
              <a:srgbClr val="E2E2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762756"/>
            <a:ext cx="8321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0706C"/>
                </a:solidFill>
                <a:latin typeface="Malgun Gothic"/>
              </a:rPr>
              <a:t>패턴 이미지 삽입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55363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70706C"/>
                </a:solidFill>
                <a:latin typeface="Malgun Gothic"/>
              </a:rPr>
              <a:t>원형 / 패턴 전개 / CAD 화면 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1664208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193852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1818"/>
                </a:solidFill>
                <a:latin typeface="Malgun Gothic"/>
              </a:rPr>
              <a:t>직접 패턴 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542032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81635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1818"/>
                </a:solidFill>
                <a:latin typeface="Malgun Gothic"/>
              </a:rPr>
              <a:t>아이템명 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3419856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3694176"/>
            <a:ext cx="1828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1818"/>
                </a:solidFill>
                <a:latin typeface="Malgun Gothic"/>
              </a:rPr>
              <a:t>원형
→ 피팅
→ 패턴 수정
→ 최종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0706C"/>
                </a:solidFill>
                <a:latin typeface="Malgun Gothic"/>
              </a:rPr>
              <a:t>TECHNICAL DESIGNER 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6446520"/>
            <a:ext cx="36393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70706C"/>
                </a:solidFill>
                <a:latin typeface="Malgun Gothic"/>
              </a:rPr>
              <a:t>실제 업무 자료로 이미지 교체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05 /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81818"/>
                </a:solidFill>
                <a:latin typeface="Malgun Gothic"/>
              </a:rPr>
              <a:t>패턴 수정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70706C"/>
                </a:solidFill>
                <a:latin typeface="Malgun Gothic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1000232" cy="9144"/>
          </a:xfrm>
          <a:prstGeom prst="rect">
            <a:avLst/>
          </a:prstGeom>
          <a:solidFill>
            <a:srgbClr val="E2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64208"/>
            <a:ext cx="5257800" cy="4526280"/>
          </a:xfrm>
          <a:prstGeom prst="rect">
            <a:avLst/>
          </a:prstGeom>
          <a:solidFill>
            <a:srgbClr val="F1F1ED"/>
          </a:solidFill>
          <a:ln w="10160">
            <a:solidFill>
              <a:srgbClr val="E2E2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762756"/>
            <a:ext cx="5257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0706C"/>
                </a:solidFill>
                <a:latin typeface="Malgun Gothic"/>
              </a:rPr>
              <a:t>BEFORE / 수정 전 패턴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55363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70706C"/>
                </a:solidFill>
                <a:latin typeface="Malgun Gothic"/>
              </a:rPr>
              <a:t>기존 패턴 또는 피팅 이슈 이미지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664208"/>
            <a:ext cx="5257800" cy="4526280"/>
          </a:xfrm>
          <a:prstGeom prst="rect">
            <a:avLst/>
          </a:prstGeom>
          <a:solidFill>
            <a:srgbClr val="F1F1ED"/>
          </a:solidFill>
          <a:ln w="10160">
            <a:solidFill>
              <a:srgbClr val="E2E2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3762756"/>
            <a:ext cx="5257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0706C"/>
                </a:solidFill>
                <a:latin typeface="Malgun Gothic"/>
              </a:rPr>
              <a:t>AFTER / 수정 후 패턴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055363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70706C"/>
                </a:solidFill>
                <a:latin typeface="Malgun Gothic"/>
              </a:rPr>
              <a:t>수정 패턴 이미지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32120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ISSUE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5504688"/>
            <a:ext cx="4023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81818"/>
                </a:solidFill>
                <a:latin typeface="Malgun Gothic"/>
              </a:rPr>
              <a:t>피팅·밸런스 문제를 간단히 설명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53212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5504688"/>
            <a:ext cx="3886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81818"/>
                </a:solidFill>
                <a:latin typeface="Malgun Gothic"/>
              </a:rPr>
              <a:t>어떤 패턴 수정을 진행했는지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0706C"/>
                </a:solidFill>
                <a:latin typeface="Malgun Gothic"/>
              </a:rPr>
              <a:t>TECHNICAL DESIGNER PORTFOLIO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6446520"/>
            <a:ext cx="36393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70706C"/>
                </a:solidFill>
                <a:latin typeface="Malgun Gothic"/>
              </a:rPr>
              <a:t>실제 업무 자료로 이미지 교체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06 /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81818"/>
                </a:solidFill>
                <a:latin typeface="Malgun Gothic"/>
              </a:rPr>
              <a:t>대표 이슈 개선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70706C"/>
                </a:solidFill>
                <a:latin typeface="Malgun Gothic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1000232" cy="9144"/>
          </a:xfrm>
          <a:prstGeom prst="rect">
            <a:avLst/>
          </a:prstGeom>
          <a:solidFill>
            <a:srgbClr val="E2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64208"/>
            <a:ext cx="6080760" cy="4480560"/>
          </a:xfrm>
          <a:prstGeom prst="rect">
            <a:avLst/>
          </a:prstGeom>
          <a:solidFill>
            <a:srgbClr val="F1F1ED"/>
          </a:solidFill>
          <a:ln w="10160">
            <a:solidFill>
              <a:srgbClr val="E2E2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739896"/>
            <a:ext cx="6080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0706C"/>
                </a:solidFill>
                <a:latin typeface="Malgun Gothic"/>
              </a:rPr>
              <a:t>대표 사례 이미지 삽입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32504"/>
            <a:ext cx="5715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70706C"/>
                </a:solidFill>
                <a:latin typeface="Malgun Gothic"/>
              </a:rPr>
              <a:t>피팅 / TD 코멘트 / 수정 샘플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664208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ISSUE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92024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1818"/>
                </a:solidFill>
                <a:latin typeface="Malgun Gothic"/>
              </a:rPr>
              <a:t>어떤 문제가 있었는가?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6600" y="2468880"/>
            <a:ext cx="4297679" cy="9144"/>
          </a:xfrm>
          <a:prstGeom prst="rect">
            <a:avLst/>
          </a:prstGeom>
          <a:solidFill>
            <a:srgbClr val="E2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2734056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990088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1818"/>
                </a:solidFill>
                <a:latin typeface="Malgun Gothic"/>
              </a:rPr>
              <a:t>원인을 어떻게 판단했는가?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3538728"/>
            <a:ext cx="4297679" cy="9144"/>
          </a:xfrm>
          <a:prstGeom prst="rect">
            <a:avLst/>
          </a:prstGeom>
          <a:solidFill>
            <a:srgbClr val="E2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3803904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4059936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1818"/>
                </a:solidFill>
                <a:latin typeface="Malgun Gothic"/>
              </a:rPr>
              <a:t>어떤 수정·조치를 진행했는가?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4608576"/>
            <a:ext cx="4297679" cy="9144"/>
          </a:xfrm>
          <a:prstGeom prst="rect">
            <a:avLst/>
          </a:prstGeom>
          <a:solidFill>
            <a:srgbClr val="E2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4873752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5129784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1818"/>
                </a:solidFill>
                <a:latin typeface="Malgun Gothic"/>
              </a:rPr>
              <a:t>수정 후 무엇이 개선되었는가?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5678424"/>
            <a:ext cx="4297679" cy="9144"/>
          </a:xfrm>
          <a:prstGeom prst="rect">
            <a:avLst/>
          </a:prstGeom>
          <a:solidFill>
            <a:srgbClr val="E2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0706C"/>
                </a:solidFill>
                <a:latin typeface="Malgun Gothic"/>
              </a:rPr>
              <a:t>TECHNICAL DESIGNER PORTFOLIO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6446520"/>
            <a:ext cx="36393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70706C"/>
                </a:solidFill>
                <a:latin typeface="Malgun Gothic"/>
              </a:rPr>
              <a:t>실제 업무 자료로 이미지 교체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07 /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81818"/>
                </a:solidFill>
                <a:latin typeface="Malgun Gothic"/>
              </a:rPr>
              <a:t>주요 업무 성과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70706C"/>
                </a:solidFill>
                <a:latin typeface="Malgun Gothic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1000232" cy="9144"/>
          </a:xfrm>
          <a:prstGeom prst="rect">
            <a:avLst/>
          </a:prstGeom>
          <a:solidFill>
            <a:srgbClr val="E2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81818"/>
                </a:solidFill>
                <a:latin typeface="Malgun Gothic"/>
              </a:rPr>
              <a:t>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79" y="1901952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0706C"/>
                </a:solidFill>
                <a:latin typeface="Malgun Gothic"/>
              </a:rPr>
              <a:t>시즌 담당 스타일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51760"/>
            <a:ext cx="5074920" cy="9144"/>
          </a:xfrm>
          <a:prstGeom prst="rect">
            <a:avLst/>
          </a:prstGeom>
          <a:solidFill>
            <a:srgbClr val="E2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73736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81818"/>
                </a:solidFill>
                <a:latin typeface="Malgun Gothic"/>
              </a:rPr>
              <a:t>XX%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901952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0706C"/>
                </a:solidFill>
                <a:latin typeface="Malgun Gothic"/>
              </a:rPr>
              <a:t>QC 컨펌율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651760"/>
            <a:ext cx="5074920" cy="9144"/>
          </a:xfrm>
          <a:prstGeom prst="rect">
            <a:avLst/>
          </a:prstGeom>
          <a:solidFill>
            <a:srgbClr val="E2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033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81818"/>
                </a:solidFill>
                <a:latin typeface="Malgun Gothic"/>
              </a:rPr>
              <a:t>XX%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79" y="3867911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0706C"/>
                </a:solidFill>
                <a:latin typeface="Malgun Gothic"/>
              </a:rPr>
              <a:t>불량률 개선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617720"/>
            <a:ext cx="5074920" cy="9144"/>
          </a:xfrm>
          <a:prstGeom prst="rect">
            <a:avLst/>
          </a:prstGeom>
          <a:solidFill>
            <a:srgbClr val="E2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7033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81818"/>
                </a:solidFill>
                <a:latin typeface="Malgun Gothic"/>
              </a:rPr>
              <a:t>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867911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0706C"/>
                </a:solidFill>
                <a:latin typeface="Malgun Gothic"/>
              </a:rPr>
              <a:t>협력사 / 주요 프로젝트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617720"/>
            <a:ext cx="5074920" cy="9144"/>
          </a:xfrm>
          <a:prstGeom prst="rect">
            <a:avLst/>
          </a:prstGeom>
          <a:solidFill>
            <a:srgbClr val="E2E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7150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0706C"/>
                </a:solidFill>
                <a:latin typeface="Malgun Gothic"/>
              </a:rPr>
              <a:t>면접에서 설명 가능한 실제 수치와 성과로 교체해주세요.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0" b="1">
                <a:solidFill>
                  <a:srgbClr val="70706C"/>
                </a:solidFill>
                <a:latin typeface="Malgun Gothic"/>
              </a:rPr>
              <a:t>TECHNICAL DESIGNER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6446520"/>
            <a:ext cx="36393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70706C"/>
                </a:solidFill>
                <a:latin typeface="Malgun Gothic"/>
              </a:rPr>
              <a:t>본인 경력 및 수치로 교체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23444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81818"/>
                </a:solidFill>
                <a:latin typeface="Malgun Gothic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0706C"/>
                </a:solidFill>
                <a:latin typeface="Malgun Gothic"/>
              </a:rPr>
              <a:t>TECHNICAL DESIGNER PORTFOLIO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834640"/>
            <a:ext cx="10789920" cy="9144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15468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12724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1818"/>
                </a:solidFill>
                <a:latin typeface="Malgun Gothic"/>
              </a:rPr>
              <a:t>이름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5760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63016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1818"/>
                </a:solidFill>
                <a:latin typeface="Malgun Gothic"/>
              </a:rPr>
              <a:t>your@email.com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6052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0706C"/>
                </a:solidFill>
                <a:latin typeface="Malgun Gothic"/>
              </a:rPr>
              <a:t>PHONE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133087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1818"/>
                </a:solidFill>
                <a:latin typeface="Malgun Gothic"/>
              </a:rPr>
              <a:t>000-0000-0000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3749039"/>
            <a:ext cx="3474720" cy="1600200"/>
          </a:xfrm>
          <a:prstGeom prst="rect">
            <a:avLst/>
          </a:prstGeom>
          <a:solidFill>
            <a:srgbClr val="F1F1ED"/>
          </a:solidFill>
          <a:ln w="10160">
            <a:solidFill>
              <a:srgbClr val="E2E2D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4384548"/>
            <a:ext cx="3474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0706C"/>
                </a:solidFill>
                <a:latin typeface="Malgun Gothic"/>
              </a:rPr>
              <a:t>마무리 이미지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4677155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70706C"/>
                </a:solidFill>
                <a:latin typeface="Malgun Gothic"/>
              </a:rPr>
              <a:t>패턴 / 의류 디테일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